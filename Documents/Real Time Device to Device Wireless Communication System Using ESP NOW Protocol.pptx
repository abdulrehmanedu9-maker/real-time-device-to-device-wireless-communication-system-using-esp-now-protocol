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1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028090">
              <a:alpha val="45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1645920" y="4754880"/>
            <a:ext cx="3840480" cy="3840480"/>
          </a:xfrm>
          <a:prstGeom prst="ellipse">
            <a:avLst/>
          </a:prstGeom>
          <a:solidFill>
            <a:srgbClr val="00A896">
              <a:alpha val="30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822960" y="1005840"/>
            <a:ext cx="7315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PRESENTATION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9875520" cy="2377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Time Device to Device</a:t>
            </a:r>
            <a:endParaRPr lang="en-US" sz="34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Wireless Communication System</a:t>
            </a:r>
            <a:endParaRPr lang="en-US" sz="34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ESP-NOW Protocol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96012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9E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 node embedded system combining ultrasonic and motion sensing, communicating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C9E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over ESP-NOW without any Wi-Fi router, internet, or cloud service.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617720"/>
            <a:ext cx="5120640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800600"/>
            <a:ext cx="7315200" cy="10972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 Rehman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9E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No: 0000674917   |   Program: BSCS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9E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Israr Akhter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052560" y="539496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02809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0" y="5394960"/>
            <a:ext cx="246888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</a:t>
            </a:r>
            <a:endParaRPr lang="en-US" sz="11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14 - 15 minutes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and Problem Statement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630936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8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sensing systems monitor spaces and detect movement automatically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8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designs still depend on a Wi-Fi router or a cloud server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8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dependency means recurring cost and a single point of failure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8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sensor alone often gives false or unreliable detections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8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fixes both problems in one design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0" y="1554480"/>
            <a:ext cx="4206240" cy="4572000"/>
          </a:xfrm>
          <a:prstGeom prst="roundRect">
            <a:avLst>
              <a:gd name="adj" fmla="val 2609"/>
            </a:avLst>
          </a:prstGeom>
          <a:solidFill>
            <a:srgbClr val="F2F7F7"/>
          </a:solidFill>
        </p:spPr>
      </p:sp>
      <p:sp>
        <p:nvSpPr>
          <p:cNvPr id="8" name="Text 6"/>
          <p:cNvSpPr/>
          <p:nvPr/>
        </p:nvSpPr>
        <p:spPr>
          <a:xfrm>
            <a:off x="7589520" y="1783080"/>
            <a:ext cx="3657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ESP-NOW?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589520" y="233172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9520" y="2331720"/>
            <a:ext cx="30175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board to board link using only MAC addresses, no router needed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589520" y="315468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589520" y="3154680"/>
            <a:ext cx="30175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into ESP8266 and ESP32 by Espressif Systems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589520" y="397764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589520" y="3977640"/>
            <a:ext cx="30175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latency, low power, works with no internet at all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4892040"/>
            <a:ext cx="356616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one sensor working alone cannot be trusted for a real alert.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seconds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2F7F7"/>
          </a:solidFill>
        </p:spPr>
      </p:sp>
      <p:sp>
        <p:nvSpPr>
          <p:cNvPr id="7" name="Shape 5"/>
          <p:cNvSpPr/>
          <p:nvPr/>
        </p:nvSpPr>
        <p:spPr>
          <a:xfrm>
            <a:off x="868680" y="1874520"/>
            <a:ext cx="594360" cy="594360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8" name="Text 6"/>
          <p:cNvSpPr/>
          <p:nvPr/>
        </p:nvSpPr>
        <p:spPr>
          <a:xfrm>
            <a:off x="868680" y="1874520"/>
            <a:ext cx="594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737360" y="1691640"/>
            <a:ext cx="950976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ultrasonic and PIR sensors for reliable detection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2834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2F7F7"/>
          </a:solidFill>
        </p:spPr>
      </p:sp>
      <p:sp>
        <p:nvSpPr>
          <p:cNvPr id="11" name="Shape 9"/>
          <p:cNvSpPr/>
          <p:nvPr/>
        </p:nvSpPr>
        <p:spPr>
          <a:xfrm>
            <a:off x="868680" y="3017520"/>
            <a:ext cx="594360" cy="594360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12" name="Text 10"/>
          <p:cNvSpPr/>
          <p:nvPr/>
        </p:nvSpPr>
        <p:spPr>
          <a:xfrm>
            <a:off x="868680" y="3017520"/>
            <a:ext cx="594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737360" y="2834640"/>
            <a:ext cx="950976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direct ESP-NOW link between two NodeMCU boards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2F7F7"/>
          </a:solidFill>
        </p:spPr>
      </p:sp>
      <p:sp>
        <p:nvSpPr>
          <p:cNvPr id="15" name="Shape 13"/>
          <p:cNvSpPr/>
          <p:nvPr/>
        </p:nvSpPr>
        <p:spPr>
          <a:xfrm>
            <a:off x="868680" y="4160520"/>
            <a:ext cx="594360" cy="594360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16" name="Text 14"/>
          <p:cNvSpPr/>
          <p:nvPr/>
        </p:nvSpPr>
        <p:spPr>
          <a:xfrm>
            <a:off x="868680" y="4160520"/>
            <a:ext cx="594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737360" y="3977640"/>
            <a:ext cx="950976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live status through simple LED indicators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40080" y="5120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2F7F7"/>
          </a:solidFill>
        </p:spPr>
      </p:sp>
      <p:sp>
        <p:nvSpPr>
          <p:cNvPr id="19" name="Shape 17"/>
          <p:cNvSpPr/>
          <p:nvPr/>
        </p:nvSpPr>
        <p:spPr>
          <a:xfrm>
            <a:off x="868680" y="5303520"/>
            <a:ext cx="594360" cy="594360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20" name="Text 18"/>
          <p:cNvSpPr/>
          <p:nvPr/>
        </p:nvSpPr>
        <p:spPr>
          <a:xfrm>
            <a:off x="868680" y="5303520"/>
            <a:ext cx="594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737360" y="5120640"/>
            <a:ext cx="950976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a low cost, router free communication model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Overview and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468880" cy="1737360"/>
          </a:xfrm>
          <a:prstGeom prst="roundRect">
            <a:avLst>
              <a:gd name="adj" fmla="val 6316"/>
            </a:avLst>
          </a:prstGeom>
          <a:solidFill>
            <a:srgbClr val="F2F7F7"/>
          </a:solidFill>
        </p:spPr>
      </p:sp>
      <p:sp>
        <p:nvSpPr>
          <p:cNvPr id="7" name="Text 5"/>
          <p:cNvSpPr/>
          <p:nvPr/>
        </p:nvSpPr>
        <p:spPr>
          <a:xfrm>
            <a:off x="548640" y="2450592"/>
            <a:ext cx="2468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219456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HC-SR04 Ultrasonic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SR505 PIR Motion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22860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028090"/>
          </a:solidFill>
        </p:spPr>
      </p:sp>
      <p:sp>
        <p:nvSpPr>
          <p:cNvPr id="10" name="Text 8"/>
          <p:cNvSpPr/>
          <p:nvPr/>
        </p:nvSpPr>
        <p:spPr>
          <a:xfrm>
            <a:off x="3429000" y="2450592"/>
            <a:ext cx="2651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Sender Node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(ESP8266)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66160" y="2880360"/>
            <a:ext cx="23774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sensors, confirms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1 second, applies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cooldown logic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92240" y="2286000"/>
            <a:ext cx="2377440" cy="1737360"/>
          </a:xfrm>
          <a:prstGeom prst="roundRect">
            <a:avLst>
              <a:gd name="adj" fmla="val 6316"/>
            </a:avLst>
          </a:prstGeom>
          <a:solidFill>
            <a:srgbClr val="00A896"/>
          </a:solidFill>
        </p:spPr>
      </p:sp>
      <p:sp>
        <p:nvSpPr>
          <p:cNvPr id="13" name="Text 11"/>
          <p:cNvSpPr/>
          <p:nvPr/>
        </p:nvSpPr>
        <p:spPr>
          <a:xfrm>
            <a:off x="6492240" y="2450592"/>
            <a:ext cx="23774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ESP-NOW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29400" y="2880360"/>
            <a:ext cx="210312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MAC to MAC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packet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router used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281160" y="228600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02C39A"/>
          </a:solidFill>
        </p:spPr>
      </p:sp>
      <p:sp>
        <p:nvSpPr>
          <p:cNvPr id="16" name="Text 14"/>
          <p:cNvSpPr/>
          <p:nvPr/>
        </p:nvSpPr>
        <p:spPr>
          <a:xfrm>
            <a:off x="9281160" y="2450592"/>
            <a:ext cx="2331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Receiver Node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(ESP8266)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418320" y="2880360"/>
            <a:ext cx="205740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Lights LED, prints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logs to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LittleFS memory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063240" y="3035808"/>
            <a:ext cx="320040" cy="237744"/>
          </a:xfrm>
          <a:prstGeom prst="rightArrow">
            <a:avLst/>
          </a:prstGeom>
          <a:solidFill>
            <a:srgbClr val="5C7377"/>
          </a:solidFill>
        </p:spPr>
      </p:sp>
      <p:sp>
        <p:nvSpPr>
          <p:cNvPr id="19" name="Shape 17"/>
          <p:cNvSpPr/>
          <p:nvPr/>
        </p:nvSpPr>
        <p:spPr>
          <a:xfrm>
            <a:off x="6126480" y="3035808"/>
            <a:ext cx="320040" cy="237744"/>
          </a:xfrm>
          <a:prstGeom prst="rightArrow">
            <a:avLst/>
          </a:prstGeom>
          <a:solidFill>
            <a:srgbClr val="5C7377"/>
          </a:solidFill>
        </p:spPr>
      </p:sp>
      <p:sp>
        <p:nvSpPr>
          <p:cNvPr id="20" name="Shape 18"/>
          <p:cNvSpPr/>
          <p:nvPr/>
        </p:nvSpPr>
        <p:spPr>
          <a:xfrm>
            <a:off x="9144000" y="3035808"/>
            <a:ext cx="320040" cy="237744"/>
          </a:xfrm>
          <a:prstGeom prst="rightArrow">
            <a:avLst/>
          </a:prstGeom>
          <a:solidFill>
            <a:srgbClr val="5C7377"/>
          </a:solidFill>
        </p:spPr>
      </p:sp>
      <p:sp>
        <p:nvSpPr>
          <p:cNvPr id="21" name="Text 19"/>
          <p:cNvSpPr/>
          <p:nvPr/>
        </p:nvSpPr>
        <p:spPr>
          <a:xfrm>
            <a:off x="640080" y="4434840"/>
            <a:ext cx="108813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nodes, connected only through a wireless ESP-NOW link. No Wi-Fi router, internet, or cloud service is involved anywhere in the pipeline.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status: Red = both sensors triggered   |   Yellow = motion only   |   Green = distance only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OSI Model Mapping of the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640080" y="1463040"/>
          <a:ext cx="10881360" cy="4974336"/>
        </p:xfrm>
        <a:graphic>
          <a:graphicData uri="http://schemas.openxmlformats.org/drawingml/2006/table">
            <a:tbl>
              <a:tblPr/>
              <a:tblGrid>
                <a:gridCol w="1737360"/>
                <a:gridCol w="1280160"/>
                <a:gridCol w="7863840"/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OSI Layer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This Project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 GHz Wi-Fi radio inside each ESP8266 carries every ESP-NOW frame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Link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ESP-NOW itself: MAC based addressing, no Wi-Fi association needed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Skipped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IP address is ever assigned, no routing decision takes place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Skipped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TCP or UDP; the send callback is a data link level acknowledgment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Skipped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Connectionless design, no session state kept between transmissions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struct_message format, identical on both boards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fusion, confirmation timer, cooldown, LED logic, LittleFS log</a:t>
                      </a:r>
                      <a:endParaRPr lang="en-US" sz="12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ESP-NOW? Alternatives Considered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881360" cy="17373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Network, Transport and Session layers, so no router or internet path is ever needed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natively into the ESP8266 chip, no extra radio hardware or cost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small, infrequent packets, exactly what this project sends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review: longer range than BLE at similar power, lower latency than full Wi-Fi association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640080" y="3429000"/>
          <a:ext cx="10881360" cy="3182112"/>
        </p:xfrm>
        <a:graphic>
          <a:graphicData uri="http://schemas.openxmlformats.org/drawingml/2006/table">
            <a:tbl>
              <a:tblPr/>
              <a:tblGrid>
                <a:gridCol w="3108960"/>
                <a:gridCol w="7772400"/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Protocol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 Not Selected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Low Energy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pairing and bonding, shorter range than ESP-NOW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Wi-Fi + TCP/IP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Brings back the router and internet dependency this project avoids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Zigbee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native radio on ESP8266, needs an extra costly module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complex and low bandwidth for a short range, indoor, two node link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ESP-MESH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for many nodes; unnecessary for a fixed two node system, noted as future work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Components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640080" y="1554480"/>
          <a:ext cx="1088136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914400"/>
                <a:gridCol w="6675120"/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4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4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NodeMCU ESP8266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controller board with built in Wi-Fi radio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HC-SR04 Ultrasonic Sensor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 distance using sound wave reflection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SR505 PIR Motion Sensor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movement of a nearby warm body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LEDs (Red, Yellow, Green)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sensor and detection status visually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Resistors (220Ω)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 each LED from overcurrent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Breadboard, Jumper Wires, USB Cable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Wiring, mounting and power for both boards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Technologies Used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seconds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028090"/>
          </a:solidFill>
        </p:spPr>
      </p:sp>
      <p:sp>
        <p:nvSpPr>
          <p:cNvPr id="7" name="Shape 5"/>
          <p:cNvSpPr/>
          <p:nvPr/>
        </p:nvSpPr>
        <p:spPr>
          <a:xfrm>
            <a:off x="1577340" y="2240280"/>
            <a:ext cx="731520" cy="731520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8" name="Text 6"/>
          <p:cNvSpPr/>
          <p:nvPr/>
        </p:nvSpPr>
        <p:spPr>
          <a:xfrm>
            <a:off x="1577340" y="2240280"/>
            <a:ext cx="7315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577340" y="2240280"/>
            <a:ext cx="731520" cy="731520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10" name="Text 8"/>
          <p:cNvSpPr/>
          <p:nvPr/>
        </p:nvSpPr>
        <p:spPr>
          <a:xfrm>
            <a:off x="1577340" y="2240280"/>
            <a:ext cx="7315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246120"/>
            <a:ext cx="2240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Arduino IDE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3931920"/>
            <a:ext cx="2148840" cy="1737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and uploading code to both NodeMCU boards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29000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00A896"/>
          </a:solidFill>
        </p:spPr>
      </p:sp>
      <p:sp>
        <p:nvSpPr>
          <p:cNvPr id="14" name="Shape 12"/>
          <p:cNvSpPr/>
          <p:nvPr/>
        </p:nvSpPr>
        <p:spPr>
          <a:xfrm>
            <a:off x="4366260" y="2240280"/>
            <a:ext cx="731520" cy="731520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15" name="Text 13"/>
          <p:cNvSpPr/>
          <p:nvPr/>
        </p:nvSpPr>
        <p:spPr>
          <a:xfrm>
            <a:off x="4366260" y="2240280"/>
            <a:ext cx="7315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366260" y="2240280"/>
            <a:ext cx="731520" cy="731520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17" name="Text 15"/>
          <p:cNvSpPr/>
          <p:nvPr/>
        </p:nvSpPr>
        <p:spPr>
          <a:xfrm>
            <a:off x="4366260" y="2240280"/>
            <a:ext cx="7315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11880" y="3246120"/>
            <a:ext cx="2240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/ C++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0" y="3931920"/>
            <a:ext cx="2148840" cy="1737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language used for sender and receiver logic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028090"/>
          </a:solidFill>
        </p:spPr>
      </p:sp>
      <p:sp>
        <p:nvSpPr>
          <p:cNvPr id="21" name="Shape 19"/>
          <p:cNvSpPr/>
          <p:nvPr/>
        </p:nvSpPr>
        <p:spPr>
          <a:xfrm>
            <a:off x="7155180" y="2240280"/>
            <a:ext cx="731520" cy="731520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22" name="Text 20"/>
          <p:cNvSpPr/>
          <p:nvPr/>
        </p:nvSpPr>
        <p:spPr>
          <a:xfrm>
            <a:off x="7155180" y="2240280"/>
            <a:ext cx="7315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7155180" y="2240280"/>
            <a:ext cx="731520" cy="731520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24" name="Text 22"/>
          <p:cNvSpPr/>
          <p:nvPr/>
        </p:nvSpPr>
        <p:spPr>
          <a:xfrm>
            <a:off x="7155180" y="2240280"/>
            <a:ext cx="7315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00800" y="3246120"/>
            <a:ext cx="2240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ESP-NOW Library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46520" y="3931920"/>
            <a:ext cx="2148840" cy="1737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direct peer to peer wireless communication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006840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00A896"/>
          </a:solidFill>
        </p:spPr>
      </p:sp>
      <p:sp>
        <p:nvSpPr>
          <p:cNvPr id="28" name="Shape 26"/>
          <p:cNvSpPr/>
          <p:nvPr/>
        </p:nvSpPr>
        <p:spPr>
          <a:xfrm>
            <a:off x="9944100" y="2240280"/>
            <a:ext cx="731520" cy="731520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29" name="Text 27"/>
          <p:cNvSpPr/>
          <p:nvPr/>
        </p:nvSpPr>
        <p:spPr>
          <a:xfrm>
            <a:off x="9944100" y="2240280"/>
            <a:ext cx="7315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9944100" y="2240280"/>
            <a:ext cx="731520" cy="731520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31" name="Text 29"/>
          <p:cNvSpPr/>
          <p:nvPr/>
        </p:nvSpPr>
        <p:spPr>
          <a:xfrm>
            <a:off x="9944100" y="2240280"/>
            <a:ext cx="73152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189720" y="3246120"/>
            <a:ext cx="2240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LittleFS File System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235440" y="3931920"/>
            <a:ext cx="2148840" cy="1737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 permanent detection log on flash memory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Methodology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minutes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5120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Sender Node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F2F7F7"/>
          </a:solidFill>
        </p:spPr>
      </p:sp>
      <p:sp>
        <p:nvSpPr>
          <p:cNvPr id="8" name="Shape 6"/>
          <p:cNvSpPr/>
          <p:nvPr/>
        </p:nvSpPr>
        <p:spPr>
          <a:xfrm>
            <a:off x="777240" y="1984248"/>
            <a:ext cx="548640" cy="548640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9" name="Text 7"/>
          <p:cNvSpPr/>
          <p:nvPr/>
        </p:nvSpPr>
        <p:spPr>
          <a:xfrm>
            <a:off x="777240" y="1984248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1874520"/>
            <a:ext cx="42062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ultrasonic distance and PIR motion state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770632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F2F7F7"/>
          </a:solidFill>
        </p:spPr>
      </p:sp>
      <p:sp>
        <p:nvSpPr>
          <p:cNvPr id="12" name="Shape 10"/>
          <p:cNvSpPr/>
          <p:nvPr/>
        </p:nvSpPr>
        <p:spPr>
          <a:xfrm>
            <a:off x="777240" y="2880360"/>
            <a:ext cx="548640" cy="548640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13" name="Text 11"/>
          <p:cNvSpPr/>
          <p:nvPr/>
        </p:nvSpPr>
        <p:spPr>
          <a:xfrm>
            <a:off x="777240" y="288036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2770632"/>
            <a:ext cx="42062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both sensors agree, start a 1 second check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66744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F2F7F7"/>
          </a:solidFill>
        </p:spPr>
      </p:sp>
      <p:sp>
        <p:nvSpPr>
          <p:cNvPr id="16" name="Shape 14"/>
          <p:cNvSpPr/>
          <p:nvPr/>
        </p:nvSpPr>
        <p:spPr>
          <a:xfrm>
            <a:off x="777240" y="3776472"/>
            <a:ext cx="548640" cy="548640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17" name="Text 15"/>
          <p:cNvSpPr/>
          <p:nvPr/>
        </p:nvSpPr>
        <p:spPr>
          <a:xfrm>
            <a:off x="777240" y="3776472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3666744"/>
            <a:ext cx="42062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stays stable -&gt; detection confirmed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562856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F2F7F7"/>
          </a:solidFill>
        </p:spPr>
      </p:sp>
      <p:sp>
        <p:nvSpPr>
          <p:cNvPr id="20" name="Shape 18"/>
          <p:cNvSpPr/>
          <p:nvPr/>
        </p:nvSpPr>
        <p:spPr>
          <a:xfrm>
            <a:off x="777240" y="4672584"/>
            <a:ext cx="548640" cy="548640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21" name="Text 19"/>
          <p:cNvSpPr/>
          <p:nvPr/>
        </p:nvSpPr>
        <p:spPr>
          <a:xfrm>
            <a:off x="777240" y="4672584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4562856"/>
            <a:ext cx="42062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packet to Receiver over ESP-NOW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458968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F2F7F7"/>
          </a:solidFill>
        </p:spPr>
      </p:sp>
      <p:sp>
        <p:nvSpPr>
          <p:cNvPr id="24" name="Shape 22"/>
          <p:cNvSpPr/>
          <p:nvPr/>
        </p:nvSpPr>
        <p:spPr>
          <a:xfrm>
            <a:off x="777240" y="5568696"/>
            <a:ext cx="548640" cy="548640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25" name="Text 23"/>
          <p:cNvSpPr/>
          <p:nvPr/>
        </p:nvSpPr>
        <p:spPr>
          <a:xfrm>
            <a:off x="777240" y="5568696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63040" y="5458968"/>
            <a:ext cx="420624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3 second cooldown before next check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309360" y="1417320"/>
            <a:ext cx="5212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Receiver Node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09360" y="1874520"/>
            <a:ext cx="5212080" cy="777240"/>
          </a:xfrm>
          <a:prstGeom prst="roundRect">
            <a:avLst>
              <a:gd name="adj" fmla="val 9412"/>
            </a:avLst>
          </a:prstGeom>
          <a:solidFill>
            <a:srgbClr val="F2F7F7"/>
          </a:solidFill>
        </p:spPr>
      </p:sp>
      <p:sp>
        <p:nvSpPr>
          <p:cNvPr id="29" name="Shape 27"/>
          <p:cNvSpPr/>
          <p:nvPr/>
        </p:nvSpPr>
        <p:spPr>
          <a:xfrm>
            <a:off x="6446520" y="1984248"/>
            <a:ext cx="548640" cy="548640"/>
          </a:xfrm>
          <a:prstGeom prst="ellipse">
            <a:avLst/>
          </a:prstGeom>
          <a:solidFill>
            <a:srgbClr val="00A896"/>
          </a:solidFill>
        </p:spPr>
      </p:sp>
      <p:sp>
        <p:nvSpPr>
          <p:cNvPr id="30" name="Text 28"/>
          <p:cNvSpPr/>
          <p:nvPr/>
        </p:nvSpPr>
        <p:spPr>
          <a:xfrm>
            <a:off x="6446520" y="1984248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32320" y="1874520"/>
            <a:ext cx="42976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silent, default green LED shown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309360" y="2770632"/>
            <a:ext cx="5212080" cy="777240"/>
          </a:xfrm>
          <a:prstGeom prst="roundRect">
            <a:avLst>
              <a:gd name="adj" fmla="val 9412"/>
            </a:avLst>
          </a:prstGeom>
          <a:solidFill>
            <a:srgbClr val="F2F7F7"/>
          </a:solidFill>
        </p:spPr>
      </p:sp>
      <p:sp>
        <p:nvSpPr>
          <p:cNvPr id="33" name="Shape 31"/>
          <p:cNvSpPr/>
          <p:nvPr/>
        </p:nvSpPr>
        <p:spPr>
          <a:xfrm>
            <a:off x="6446520" y="2880360"/>
            <a:ext cx="548640" cy="548640"/>
          </a:xfrm>
          <a:prstGeom prst="ellipse">
            <a:avLst/>
          </a:prstGeom>
          <a:solidFill>
            <a:srgbClr val="00A896"/>
          </a:solidFill>
        </p:spPr>
      </p:sp>
      <p:sp>
        <p:nvSpPr>
          <p:cNvPr id="34" name="Text 32"/>
          <p:cNvSpPr/>
          <p:nvPr/>
        </p:nvSpPr>
        <p:spPr>
          <a:xfrm>
            <a:off x="6446520" y="288036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132320" y="2770632"/>
            <a:ext cx="42976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an ESP-NOW packet to arrive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309360" y="3666744"/>
            <a:ext cx="5212080" cy="777240"/>
          </a:xfrm>
          <a:prstGeom prst="roundRect">
            <a:avLst>
              <a:gd name="adj" fmla="val 9412"/>
            </a:avLst>
          </a:prstGeom>
          <a:solidFill>
            <a:srgbClr val="F2F7F7"/>
          </a:solidFill>
        </p:spPr>
      </p:sp>
      <p:sp>
        <p:nvSpPr>
          <p:cNvPr id="37" name="Shape 35"/>
          <p:cNvSpPr/>
          <p:nvPr/>
        </p:nvSpPr>
        <p:spPr>
          <a:xfrm>
            <a:off x="6446520" y="3776472"/>
            <a:ext cx="548640" cy="548640"/>
          </a:xfrm>
          <a:prstGeom prst="ellipse">
            <a:avLst/>
          </a:prstGeom>
          <a:solidFill>
            <a:srgbClr val="00A896"/>
          </a:solidFill>
        </p:spPr>
      </p:sp>
      <p:sp>
        <p:nvSpPr>
          <p:cNvPr id="38" name="Text 36"/>
          <p:cNvSpPr/>
          <p:nvPr/>
        </p:nvSpPr>
        <p:spPr>
          <a:xfrm>
            <a:off x="6446520" y="3776472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132320" y="3666744"/>
            <a:ext cx="42976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arrival: turn red LED on, print status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309360" y="4562856"/>
            <a:ext cx="5212080" cy="777240"/>
          </a:xfrm>
          <a:prstGeom prst="roundRect">
            <a:avLst>
              <a:gd name="adj" fmla="val 9412"/>
            </a:avLst>
          </a:prstGeom>
          <a:solidFill>
            <a:srgbClr val="F2F7F7"/>
          </a:solidFill>
        </p:spPr>
      </p:sp>
      <p:sp>
        <p:nvSpPr>
          <p:cNvPr id="41" name="Shape 39"/>
          <p:cNvSpPr/>
          <p:nvPr/>
        </p:nvSpPr>
        <p:spPr>
          <a:xfrm>
            <a:off x="6446520" y="4672584"/>
            <a:ext cx="548640" cy="548640"/>
          </a:xfrm>
          <a:prstGeom prst="ellipse">
            <a:avLst/>
          </a:prstGeom>
          <a:solidFill>
            <a:srgbClr val="00A896"/>
          </a:solidFill>
        </p:spPr>
      </p:sp>
      <p:sp>
        <p:nvSpPr>
          <p:cNvPr id="42" name="Text 40"/>
          <p:cNvSpPr/>
          <p:nvPr/>
        </p:nvSpPr>
        <p:spPr>
          <a:xfrm>
            <a:off x="6446520" y="4672584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132320" y="4562856"/>
            <a:ext cx="42976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the same line to LittleFS log file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309360" y="5458968"/>
            <a:ext cx="5212080" cy="777240"/>
          </a:xfrm>
          <a:prstGeom prst="roundRect">
            <a:avLst>
              <a:gd name="adj" fmla="val 9412"/>
            </a:avLst>
          </a:prstGeom>
          <a:solidFill>
            <a:srgbClr val="F2F7F7"/>
          </a:solidFill>
        </p:spPr>
      </p:sp>
      <p:sp>
        <p:nvSpPr>
          <p:cNvPr id="45" name="Shape 43"/>
          <p:cNvSpPr/>
          <p:nvPr/>
        </p:nvSpPr>
        <p:spPr>
          <a:xfrm>
            <a:off x="6446520" y="5568696"/>
            <a:ext cx="548640" cy="548640"/>
          </a:xfrm>
          <a:prstGeom prst="ellipse">
            <a:avLst/>
          </a:prstGeom>
          <a:solidFill>
            <a:srgbClr val="00A896"/>
          </a:solidFill>
        </p:spPr>
      </p:sp>
      <p:sp>
        <p:nvSpPr>
          <p:cNvPr id="46" name="Text 44"/>
          <p:cNvSpPr/>
          <p:nvPr/>
        </p:nvSpPr>
        <p:spPr>
          <a:xfrm>
            <a:off x="6446520" y="5568696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7132320" y="5458968"/>
            <a:ext cx="429768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packet for 4 seconds -&gt; fall back to green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Implementation: Circuit &amp;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minutes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5120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 Connections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512064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/ D6 -&gt; HC-SR04 trigger and echo pins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D7 -&gt; SR505 PIR sensor output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/ D2 / D3 -&gt; Green, Red, Yellow LEDs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ground shared across all components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09360" y="1417320"/>
            <a:ext cx="5212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Structure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09360" y="1874520"/>
            <a:ext cx="5212080" cy="3200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esp_now_init() sets up wireless communication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esp_now_send() transmits confirmed data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Receiver: esp_now_register_recv_cb() listens for packets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LittleFS.open() writes each detection to the log file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028090"/>
          </a:solidFill>
        </p:spPr>
      </p:sp>
      <p:sp>
        <p:nvSpPr>
          <p:cNvPr id="11" name="Text 9"/>
          <p:cNvSpPr/>
          <p:nvPr/>
        </p:nvSpPr>
        <p:spPr>
          <a:xfrm>
            <a:off x="914400" y="5074920"/>
            <a:ext cx="1033272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boards were assembled on a breadboard and tested using the Arduino Serial Monitor before final verification.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and Live Demonstration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minutes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640080" y="1508760"/>
          <a:ext cx="10881360" cy="3950208"/>
        </p:xfrm>
        <a:graphic>
          <a:graphicData uri="http://schemas.openxmlformats.org/drawingml/2006/table">
            <a:tbl>
              <a:tblPr/>
              <a:tblGrid>
                <a:gridCol w="4937760"/>
                <a:gridCol w="5943600"/>
              </a:tblGrid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Condition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Outcome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one sensor active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packet sent, Receiver stays green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sensors, object pulled away early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Confirmation cancelled, nothing sent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sensors held steady for 1 second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sent, red LED on, one log line saved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 held for 10+ seconds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Cooldown keeps message rate low, red LED steady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6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Sender powered off or out of range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C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Receiver falls back to green after 4 seconds</a:t>
                      </a:r>
                      <a:endParaRPr lang="en-US" sz="12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62356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02C39A"/>
          </a:solidFill>
        </p:spPr>
      </p:sp>
      <p:sp>
        <p:nvSpPr>
          <p:cNvPr id="8" name="Text 5"/>
          <p:cNvSpPr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place an object within 20 cm while moving your hand to trigger both sensors together.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</a:t>
            </a:r>
            <a:endParaRPr lang="en-US" sz="3000" dirty="0"/>
          </a:p>
        </p:txBody>
      </p:sp>
      <p:pic>
        <p:nvPicPr>
          <p:cNvPr id="17" name="WhatsApp Video 2026-07-13 at 6.59.28 P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 rot="5400000">
            <a:off x="4215581" y="169869"/>
            <a:ext cx="4324612" cy="7690210"/>
          </a:xfrm>
          <a:prstGeom prst="rect">
            <a:avLst/>
          </a:prstGeom>
        </p:spPr>
      </p:pic>
      <p:sp>
        <p:nvSpPr>
          <p:cNvPr id="19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seconds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16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8090"/>
          </a:solidFill>
        </p:spPr>
      </p:sp>
      <p:sp>
        <p:nvSpPr>
          <p:cNvPr id="3" name="Text 1"/>
          <p:cNvSpPr/>
          <p:nvPr/>
        </p:nvSpPr>
        <p:spPr>
          <a:xfrm>
            <a:off x="548640" y="0"/>
            <a:ext cx="8686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and Future Improvements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Challenges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5120640" cy="3291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wireless range compared to open Wi-Fi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Sender can talk to one Receiver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and timing values are fixed in code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time stamps reset after every reboot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09360" y="1463040"/>
            <a:ext cx="5212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09360" y="1920240"/>
            <a:ext cx="5212080" cy="3291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buzzer or mobile notification alerts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live distance on a small OLED display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multiple Sender boards at once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6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real time clock for accurate log stamps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C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028090">
              <a:alpha val="45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822960" y="640080"/>
            <a:ext cx="73152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seconds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9601200" cy="3657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working, low cost, internet free detection system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two sensors made detection far more reliable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ESP-NOW gave a fast, direct, router free wireless link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logs every confirmed detection automatically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solid foundation for future security and IoT projects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B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114800" cy="4114800"/>
          </a:xfrm>
          <a:prstGeom prst="ellipse">
            <a:avLst/>
          </a:prstGeom>
          <a:solidFill>
            <a:srgbClr val="00A896">
              <a:alpha val="35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9509760" y="-1645920"/>
            <a:ext cx="4114800" cy="4114800"/>
          </a:xfrm>
          <a:prstGeom prst="ellipse">
            <a:avLst/>
          </a:prstGeom>
          <a:solidFill>
            <a:srgbClr val="028090">
              <a:alpha val="45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0" y="2286000"/>
            <a:ext cx="12188952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0" y="3383280"/>
            <a:ext cx="12188952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4572000"/>
            <a:ext cx="94457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B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Time Device to Device Wireless Communication System Using ESP-NOW Protocol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4937760"/>
            <a:ext cx="9445752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B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 Rehman   |   BSCS   |   Allama Iqbal Open University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222992" y="320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FFFFFF">
              <a:alpha val="15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10222992" y="320040"/>
            <a:ext cx="1600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seconds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" y="6309360"/>
            <a:ext cx="548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B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6379</Words>
  <Application>WPS Presentation</Application>
  <PresentationFormat>Widescreen</PresentationFormat>
  <Paragraphs>430</Paragraphs>
  <Slides>15</Slides>
  <Notes>15</Notes>
  <HiddenSlides>0</HiddenSlides>
  <MMClips>1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1" baseType="lpstr">
      <vt:lpstr>Arial</vt:lpstr>
      <vt:lpstr>SimSun</vt:lpstr>
      <vt:lpstr>Wingdings</vt:lpstr>
      <vt:lpstr>DejaVu Sans</vt:lpstr>
      <vt:lpstr>Calibri</vt:lpstr>
      <vt:lpstr>Calibri</vt:lpstr>
      <vt:lpstr>Calibri</vt:lpstr>
      <vt:lpstr>Cambria</vt:lpstr>
      <vt:lpstr>Cambria</vt:lpstr>
      <vt:lpstr>Cambria</vt:lpstr>
      <vt:lpstr>C059</vt:lpstr>
      <vt:lpstr>Microsoft YaHei</vt:lpstr>
      <vt:lpstr>Droid Sans Fallback</vt:lpstr>
      <vt:lpstr>Arial Unicode MS</vt:lpstr>
      <vt:lpstr>Aptos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abdul-rehman</cp:lastModifiedBy>
  <cp:revision>4</cp:revision>
  <dcterms:created xsi:type="dcterms:W3CDTF">2026-07-14T09:38:24Z</dcterms:created>
  <dcterms:modified xsi:type="dcterms:W3CDTF">2026-07-14T09:38:24Z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